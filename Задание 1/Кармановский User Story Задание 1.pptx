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8C81"/>
    <a:srgbClr val="DFC1B9"/>
    <a:srgbClr val="000000"/>
    <a:srgbClr val="9A67E5"/>
    <a:srgbClr val="E64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27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91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28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4067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36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53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81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1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97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48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28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5BE9F-08F7-48E3-B3A2-8E43B92995F0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02950-DA44-43B0-9A24-194023A02E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49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9474" y="3443418"/>
            <a:ext cx="2685536" cy="23642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Как </a:t>
            </a:r>
            <a:r>
              <a:rPr lang="ru-RU" sz="1200" dirty="0" smtClean="0">
                <a:solidFill>
                  <a:schemeClr val="tx1"/>
                </a:solidFill>
              </a:rPr>
              <a:t>Менеджер,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</a:t>
            </a:r>
            <a:r>
              <a:rPr lang="ru-RU" sz="1200" dirty="0" smtClean="0">
                <a:solidFill>
                  <a:schemeClr val="tx1"/>
                </a:solidFill>
              </a:rPr>
              <a:t> иметь возможность создавать вручную и редактировать заказы для клиентов,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быстро найти нужный мне вариант.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-Фильтрация без перезагрузки страницы.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-Рядом с каждым фильтром число подходящих товаров.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-Есть кнопка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Сбросить фильтры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.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245712" y="3443418"/>
            <a:ext cx="2685536" cy="24466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Как </a:t>
            </a:r>
            <a:r>
              <a:rPr lang="ru-RU" sz="1200" dirty="0" smtClean="0">
                <a:solidFill>
                  <a:schemeClr val="tx1"/>
                </a:solidFill>
              </a:rPr>
              <a:t>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видеть товар в разных цветах и ракурсах,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лучше представить как товар выглядит в реальности.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-На странице товара есть галерея изображений.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-Реализована выбора цвета товара с изменением основного изображения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-при наведении работает увеличение изображения. 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06068" y="3443417"/>
            <a:ext cx="2685536" cy="196060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Как</a:t>
            </a:r>
            <a:r>
              <a:rPr lang="ru-RU" sz="1200" dirty="0" smtClean="0">
                <a:solidFill>
                  <a:schemeClr val="tx1"/>
                </a:solidFill>
              </a:rPr>
              <a:t> 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видеть его описание и характеристики,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принять точное решение о покупке.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-На странице товара должны быть вкладки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Описание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 и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Характеристики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.</a:t>
            </a:r>
          </a:p>
          <a:p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9366424" y="3443417"/>
            <a:ext cx="2685536" cy="157342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Как </a:t>
            </a:r>
            <a:r>
              <a:rPr lang="ru-RU" sz="1200" dirty="0" smtClean="0">
                <a:solidFill>
                  <a:schemeClr val="tx1"/>
                </a:solidFill>
              </a:rPr>
              <a:t>покупатель с конкретной целью,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использовать строку поиска и подсказками,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быстро найти нужный товар.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-Критерии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При вводе в поиск появляются подсказки(товары, категории).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8901" y="297933"/>
            <a:ext cx="494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Сайт </a:t>
            </a:r>
            <a:r>
              <a:rPr lang="ru-RU" smtClean="0"/>
              <a:t>мебельного </a:t>
            </a:r>
            <a:r>
              <a:rPr lang="ru-RU" smtClean="0"/>
              <a:t>магазина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89474" y="889687"/>
            <a:ext cx="2685536" cy="1779373"/>
          </a:xfrm>
          <a:prstGeom prst="rect">
            <a:avLst/>
          </a:prstGeom>
          <a:solidFill>
            <a:srgbClr val="DFC1B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постоянный 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видеть список просмотренных товаров,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Легко вернутся к понравившимся товарам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-Блок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Недавно просмотрено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 отображается на главной странице.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245712" y="889688"/>
            <a:ext cx="2685536" cy="210888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добавить товар в избранное,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сохранить его для сравнения или покупки.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-Иконка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Звездочки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 на карточке товара.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-Доступ в избранное из личного кабинета</a:t>
            </a:r>
            <a:r>
              <a:rPr lang="ru-RU" sz="1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306068" y="889687"/>
            <a:ext cx="2685536" cy="210888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chemeClr val="bg1"/>
                </a:solidFill>
              </a:rPr>
              <a:t>Я как покупатель,</a:t>
            </a:r>
          </a:p>
          <a:p>
            <a:r>
              <a:rPr lang="ru-RU" sz="1200" dirty="0" smtClean="0">
                <a:solidFill>
                  <a:schemeClr val="bg1"/>
                </a:solidFill>
              </a:rPr>
              <a:t>Я хочу добавлять в корзину товары , Чтобы сформировать свой заказ.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r>
              <a:rPr lang="ru-RU" sz="1200" dirty="0" smtClean="0">
                <a:solidFill>
                  <a:schemeClr val="bg1"/>
                </a:solidFill>
              </a:rPr>
              <a:t>Критерии приемки</a:t>
            </a:r>
            <a:r>
              <a:rPr lang="en-US" sz="1200" dirty="0" smtClean="0">
                <a:solidFill>
                  <a:schemeClr val="bg1"/>
                </a:solidFill>
              </a:rPr>
              <a:t>:</a:t>
            </a:r>
            <a:endParaRPr lang="ru-RU" sz="1200" dirty="0" smtClean="0">
              <a:solidFill>
                <a:schemeClr val="bg1"/>
              </a:solidFill>
            </a:endParaRPr>
          </a:p>
          <a:p>
            <a:r>
              <a:rPr lang="ru-RU" sz="1200" dirty="0" smtClean="0">
                <a:solidFill>
                  <a:schemeClr val="bg1"/>
                </a:solidFill>
              </a:rPr>
              <a:t>-При добавлении товара появляется всплывающее окно предлагающее перейти в корзину.</a:t>
            </a:r>
          </a:p>
          <a:p>
            <a:r>
              <a:rPr lang="ru-RU" sz="1200" dirty="0" smtClean="0">
                <a:solidFill>
                  <a:schemeClr val="bg1"/>
                </a:solidFill>
              </a:rPr>
              <a:t>-В корзине можно изменить количество или удалить  товар.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9366424" y="889687"/>
            <a:ext cx="2685536" cy="177937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</a:t>
            </a:r>
            <a:r>
              <a:rPr lang="ru-RU" sz="1200" dirty="0" smtClean="0">
                <a:solidFill>
                  <a:schemeClr val="tx1"/>
                </a:solidFill>
              </a:rPr>
              <a:t> </a:t>
            </a:r>
            <a:r>
              <a:rPr lang="ru-RU" sz="1200" dirty="0" smtClean="0">
                <a:solidFill>
                  <a:srgbClr val="FF0000"/>
                </a:solidFill>
              </a:rPr>
              <a:t>как</a:t>
            </a:r>
            <a:r>
              <a:rPr lang="ru-RU" sz="1200" dirty="0" smtClean="0">
                <a:solidFill>
                  <a:schemeClr val="tx1"/>
                </a:solidFill>
              </a:rPr>
              <a:t> 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видеть итоговую стоимость заказа с учетом доставки и </a:t>
            </a:r>
            <a:r>
              <a:rPr lang="ru-RU" sz="1200" dirty="0" err="1" smtClean="0">
                <a:solidFill>
                  <a:schemeClr val="tx1"/>
                </a:solidFill>
              </a:rPr>
              <a:t>тп</a:t>
            </a:r>
            <a:r>
              <a:rPr lang="ru-RU" sz="1200" dirty="0" smtClean="0">
                <a:solidFill>
                  <a:schemeClr val="tx1"/>
                </a:solidFill>
              </a:rPr>
              <a:t>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понимать полную сумму к оплате.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-На всех шагах отображается итоговая цена.</a:t>
            </a:r>
          </a:p>
        </p:txBody>
      </p:sp>
    </p:spTree>
    <p:extLst>
      <p:ext uri="{BB962C8B-B14F-4D97-AF65-F5344CB8AC3E}">
        <p14:creationId xmlns:p14="http://schemas.microsoft.com/office/powerpoint/2010/main" val="266425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156522" y="568411"/>
            <a:ext cx="2685536" cy="1762897"/>
          </a:xfrm>
          <a:prstGeom prst="rect">
            <a:avLst/>
          </a:prstGeom>
          <a:solidFill>
            <a:srgbClr val="AF8C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выбрать дату и время доставки,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я смог принять доставку в удобное мне время.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>
                <a:solidFill>
                  <a:schemeClr val="tx1"/>
                </a:solidFill>
              </a:rPr>
              <a:t>К</a:t>
            </a:r>
            <a:r>
              <a:rPr lang="ru-RU" sz="1200" dirty="0" smtClean="0">
                <a:solidFill>
                  <a:schemeClr val="tx1"/>
                </a:solidFill>
              </a:rPr>
              <a:t>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-Календарь с выбором, и запретом а прошедшие дни и недоступных дат.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3212760" y="568411"/>
            <a:ext cx="2685536" cy="22901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зарегистрированный пользователь 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>
                <a:solidFill>
                  <a:schemeClr val="tx1"/>
                </a:solidFill>
              </a:rPr>
              <a:t>в</a:t>
            </a:r>
            <a:r>
              <a:rPr lang="ru-RU" sz="1200" dirty="0" smtClean="0">
                <a:solidFill>
                  <a:schemeClr val="tx1"/>
                </a:solidFill>
              </a:rPr>
              <a:t>идеть историю своих заказов и их статус(обработка, доставка, выполнен),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отслеживать процесс получения товара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-В истории заказов отображается номер, дата, состав, стоимость и статус каждого заказа.</a:t>
            </a:r>
          </a:p>
          <a:p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273116" y="568412"/>
            <a:ext cx="2685536" cy="21418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покупатель,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быстро связаться менеджером через сайт через онлайн сайт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получить консультацию по товару или условиям доставки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</a:t>
            </a:r>
            <a:r>
              <a:rPr lang="en-US" sz="1200" dirty="0" smtClean="0">
                <a:solidFill>
                  <a:schemeClr val="tx1"/>
                </a:solidFill>
              </a:rPr>
              <a:t>:</a:t>
            </a:r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-Чат доступен с </a:t>
            </a:r>
            <a:r>
              <a:rPr lang="ru-RU" sz="1200" dirty="0">
                <a:solidFill>
                  <a:schemeClr val="tx1"/>
                </a:solidFill>
              </a:rPr>
              <a:t>л</a:t>
            </a:r>
            <a:r>
              <a:rPr lang="ru-RU" sz="1200" dirty="0" smtClean="0">
                <a:solidFill>
                  <a:schemeClr val="tx1"/>
                </a:solidFill>
              </a:rPr>
              <a:t>юбой страницы сайта.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-Должна быть возможность отправки файла(для консультации).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9333472" y="568411"/>
            <a:ext cx="2685536" cy="187822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err="1" smtClean="0">
                <a:solidFill>
                  <a:srgbClr val="FF0000"/>
                </a:solidFill>
              </a:rPr>
              <a:t>зарегистрированый</a:t>
            </a:r>
            <a:r>
              <a:rPr lang="ru-RU" sz="1200" dirty="0" smtClean="0">
                <a:solidFill>
                  <a:srgbClr val="FF0000"/>
                </a:solidFill>
              </a:rPr>
              <a:t> </a:t>
            </a:r>
            <a:r>
              <a:rPr lang="ru-RU" sz="1200" dirty="0" smtClean="0">
                <a:solidFill>
                  <a:schemeClr val="tx1"/>
                </a:solidFill>
              </a:rPr>
              <a:t>клиент,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</a:t>
            </a:r>
            <a:r>
              <a:rPr lang="ru-RU" sz="1200" dirty="0" smtClean="0">
                <a:solidFill>
                  <a:schemeClr val="tx1"/>
                </a:solidFill>
              </a:rPr>
              <a:t>  подписаться на </a:t>
            </a:r>
            <a:r>
              <a:rPr lang="en-US" sz="1200" dirty="0" smtClean="0">
                <a:solidFill>
                  <a:schemeClr val="tx1"/>
                </a:solidFill>
              </a:rPr>
              <a:t>email-</a:t>
            </a:r>
            <a:r>
              <a:rPr lang="ru-RU" sz="1200" dirty="0" smtClean="0">
                <a:solidFill>
                  <a:schemeClr val="tx1"/>
                </a:solidFill>
              </a:rPr>
              <a:t> рассылку о новых коллекциях и акциях,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быть в курсе выгодных предложений.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</a:t>
            </a:r>
            <a:r>
              <a:rPr lang="en-US" sz="1200" dirty="0" smtClean="0">
                <a:solidFill>
                  <a:schemeClr val="tx1"/>
                </a:solidFill>
              </a:rPr>
              <a:t>:</a:t>
            </a:r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-Двойное подтверждение подписки.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-Форма подписки в </a:t>
            </a:r>
            <a:r>
              <a:rPr lang="en-US" sz="1200" dirty="0" smtClean="0">
                <a:solidFill>
                  <a:schemeClr val="tx1"/>
                </a:solidFill>
              </a:rPr>
              <a:t>footer’</a:t>
            </a:r>
            <a:r>
              <a:rPr lang="ru-RU" sz="1200" dirty="0" smtClean="0">
                <a:solidFill>
                  <a:schemeClr val="tx1"/>
                </a:solidFill>
              </a:rPr>
              <a:t>е сайта.</a:t>
            </a:r>
          </a:p>
          <a:p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6522" y="3212757"/>
            <a:ext cx="2685536" cy="271848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Менеджер,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иметь доступ к контактам клиента и </a:t>
            </a:r>
            <a:r>
              <a:rPr lang="ru-RU" sz="1200" dirty="0">
                <a:solidFill>
                  <a:schemeClr val="tx1"/>
                </a:solidFill>
              </a:rPr>
              <a:t>его истории </a:t>
            </a:r>
            <a:r>
              <a:rPr lang="ru-RU" sz="1200" dirty="0" smtClean="0">
                <a:solidFill>
                  <a:schemeClr val="tx1"/>
                </a:solidFill>
              </a:rPr>
              <a:t>заказов, когда он пишет в чат 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 </a:t>
            </a:r>
            <a:r>
              <a:rPr lang="ru-RU" sz="1200" dirty="0" smtClean="0">
                <a:solidFill>
                  <a:schemeClr val="tx1"/>
                </a:solidFill>
              </a:rPr>
              <a:t>Предоставлять квалифицированную и персональную поддержку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</a:t>
            </a:r>
            <a:r>
              <a:rPr lang="en-US" sz="1200" dirty="0" smtClean="0">
                <a:solidFill>
                  <a:schemeClr val="tx1"/>
                </a:solidFill>
              </a:rPr>
              <a:t>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-На странице товара отображается статус</a:t>
            </a:r>
            <a:r>
              <a:rPr lang="en-US" sz="1200" dirty="0" smtClean="0">
                <a:solidFill>
                  <a:schemeClr val="tx1"/>
                </a:solidFill>
              </a:rPr>
              <a:t> “</a:t>
            </a:r>
            <a:r>
              <a:rPr lang="ru-RU" sz="1200" dirty="0" smtClean="0">
                <a:solidFill>
                  <a:schemeClr val="tx1"/>
                </a:solidFill>
              </a:rPr>
              <a:t>Под заказ(</a:t>
            </a:r>
            <a:r>
              <a:rPr lang="en-US" sz="1200" dirty="0" smtClean="0">
                <a:solidFill>
                  <a:schemeClr val="tx1"/>
                </a:solidFill>
              </a:rPr>
              <a:t>XX</a:t>
            </a:r>
            <a:r>
              <a:rPr lang="ru-RU" sz="1200" dirty="0" smtClean="0">
                <a:solidFill>
                  <a:schemeClr val="tx1"/>
                </a:solidFill>
              </a:rPr>
              <a:t> дней)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-Кнопка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узнать 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ru-RU" sz="1200" dirty="0" smtClean="0">
                <a:solidFill>
                  <a:schemeClr val="tx1"/>
                </a:solidFill>
              </a:rPr>
              <a:t>о поступлении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отправит сообщение на </a:t>
            </a:r>
            <a:r>
              <a:rPr lang="en-US" sz="1200" dirty="0" smtClean="0">
                <a:solidFill>
                  <a:schemeClr val="tx1"/>
                </a:solidFill>
              </a:rPr>
              <a:t>email</a:t>
            </a:r>
            <a:r>
              <a:rPr lang="ru-RU" sz="1200" dirty="0" smtClean="0">
                <a:solidFill>
                  <a:schemeClr val="tx1"/>
                </a:solidFill>
              </a:rPr>
              <a:t> при поступлении товара.</a:t>
            </a:r>
          </a:p>
          <a:p>
            <a:endParaRPr lang="ru-RU" sz="1200" dirty="0" smtClean="0">
              <a:solidFill>
                <a:schemeClr val="tx1"/>
              </a:solidFill>
            </a:endParaRPr>
          </a:p>
          <a:p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212760" y="3212757"/>
            <a:ext cx="2685536" cy="23065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</a:t>
            </a:r>
            <a:r>
              <a:rPr lang="ru-RU" sz="1200" dirty="0" smtClean="0">
                <a:solidFill>
                  <a:schemeClr val="tx1"/>
                </a:solidFill>
              </a:rPr>
              <a:t> клиент совершивший покупку,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иметь возможность оформить возврат или обмен товара через сайт,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решить вопрос без телефонных 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Звонков или походов в магазин,</a:t>
            </a:r>
          </a:p>
          <a:p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</a:t>
            </a:r>
            <a:r>
              <a:rPr lang="en-US" sz="1200" dirty="0" smtClean="0">
                <a:solidFill>
                  <a:schemeClr val="tx1"/>
                </a:solidFill>
              </a:rPr>
              <a:t>:</a:t>
            </a:r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-В личном кабинете в деталях заказа должна быть кнопка вернуть заказ.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-Система запрашивает причину возврата и позволяет загрузить фото повреждений или дефекта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6273116" y="3212758"/>
            <a:ext cx="2685536" cy="248782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>
                <a:solidFill>
                  <a:schemeClr val="tx1"/>
                </a:solidFill>
              </a:rPr>
              <a:t>клиент совершивший покупку,</a:t>
            </a:r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rgbClr val="FF0000"/>
                </a:solidFill>
              </a:rPr>
              <a:t>Я хочу </a:t>
            </a:r>
            <a:r>
              <a:rPr lang="ru-RU" sz="1200" dirty="0" smtClean="0">
                <a:solidFill>
                  <a:schemeClr val="tx1"/>
                </a:solidFill>
              </a:rPr>
              <a:t>получить на </a:t>
            </a:r>
            <a:r>
              <a:rPr lang="en-US" sz="1200" dirty="0" smtClean="0">
                <a:solidFill>
                  <a:schemeClr val="tx1"/>
                </a:solidFill>
              </a:rPr>
              <a:t>email</a:t>
            </a:r>
            <a:r>
              <a:rPr lang="ru-RU" sz="1200" dirty="0" smtClean="0">
                <a:solidFill>
                  <a:schemeClr val="tx1"/>
                </a:solidFill>
              </a:rPr>
              <a:t> цифровой чек и гарантийный талон,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иметь все документы в электронном виде.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приемки: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-После оплаты формируется </a:t>
            </a:r>
            <a:r>
              <a:rPr lang="en-US" sz="1200" dirty="0" smtClean="0">
                <a:solidFill>
                  <a:schemeClr val="tx1"/>
                </a:solidFill>
              </a:rPr>
              <a:t>PDF</a:t>
            </a:r>
            <a:r>
              <a:rPr lang="ru-RU" sz="1200" dirty="0" smtClean="0">
                <a:solidFill>
                  <a:schemeClr val="tx1"/>
                </a:solidFill>
              </a:rPr>
              <a:t>-файл с чеком.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-Гарантийный талон генерируется автоматически с указанием номера заказа, даты покупки и модели товара.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333472" y="3212757"/>
            <a:ext cx="2685536" cy="23065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200" dirty="0" smtClean="0">
                <a:solidFill>
                  <a:srgbClr val="FF0000"/>
                </a:solidFill>
              </a:rPr>
              <a:t>Я как </a:t>
            </a:r>
            <a:r>
              <a:rPr lang="ru-RU" sz="1200" dirty="0" smtClean="0">
                <a:solidFill>
                  <a:schemeClr val="tx1"/>
                </a:solidFill>
              </a:rPr>
              <a:t>постоянный клиент 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Хочу</a:t>
            </a:r>
            <a:r>
              <a:rPr lang="ru-RU" sz="1200" dirty="0" smtClean="0">
                <a:solidFill>
                  <a:schemeClr val="tx1"/>
                </a:solidFill>
              </a:rPr>
              <a:t> участвовать в программе лояльности где за покупки начисляют бонусные баллы,</a:t>
            </a:r>
          </a:p>
          <a:p>
            <a:r>
              <a:rPr lang="ru-RU" sz="1200" dirty="0" smtClean="0">
                <a:solidFill>
                  <a:srgbClr val="FF0000"/>
                </a:solidFill>
              </a:rPr>
              <a:t>Чтобы</a:t>
            </a:r>
            <a:r>
              <a:rPr lang="ru-RU" sz="1200" dirty="0" smtClean="0">
                <a:solidFill>
                  <a:schemeClr val="tx1"/>
                </a:solidFill>
              </a:rPr>
              <a:t> получать </a:t>
            </a:r>
            <a:r>
              <a:rPr lang="ru-RU" sz="1200" dirty="0">
                <a:solidFill>
                  <a:schemeClr val="tx1"/>
                </a:solidFill>
              </a:rPr>
              <a:t>с</a:t>
            </a:r>
            <a:r>
              <a:rPr lang="ru-RU" sz="1200" dirty="0" smtClean="0">
                <a:solidFill>
                  <a:schemeClr val="tx1"/>
                </a:solidFill>
              </a:rPr>
              <a:t>кидки на следующие заказы</a:t>
            </a:r>
          </a:p>
          <a:p>
            <a:endParaRPr lang="ru-RU" sz="1200" dirty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Критерии приемки</a:t>
            </a:r>
            <a:r>
              <a:rPr lang="en-US" sz="1200" dirty="0" smtClean="0">
                <a:solidFill>
                  <a:schemeClr val="tx1"/>
                </a:solidFill>
              </a:rPr>
              <a:t>:</a:t>
            </a:r>
            <a:endParaRPr lang="ru-RU" sz="1200" dirty="0" smtClean="0">
              <a:solidFill>
                <a:schemeClr val="tx1"/>
              </a:solidFill>
            </a:endParaRPr>
          </a:p>
          <a:p>
            <a:r>
              <a:rPr lang="ru-RU" sz="1200" dirty="0" smtClean="0">
                <a:solidFill>
                  <a:schemeClr val="tx1"/>
                </a:solidFill>
              </a:rPr>
              <a:t>-В личном кабинете отображается текущий баланс баллов.</a:t>
            </a:r>
          </a:p>
          <a:p>
            <a:r>
              <a:rPr lang="ru-RU" sz="1200" dirty="0" smtClean="0">
                <a:solidFill>
                  <a:schemeClr val="tx1"/>
                </a:solidFill>
              </a:rPr>
              <a:t>-При оплате заказа есть опция </a:t>
            </a:r>
            <a:r>
              <a:rPr lang="en-US" sz="1200" dirty="0" smtClean="0">
                <a:solidFill>
                  <a:schemeClr val="tx1"/>
                </a:solidFill>
              </a:rPr>
              <a:t>“</a:t>
            </a:r>
            <a:r>
              <a:rPr lang="ru-RU" sz="1200" dirty="0" smtClean="0">
                <a:solidFill>
                  <a:schemeClr val="tx1"/>
                </a:solidFill>
              </a:rPr>
              <a:t>Оплатить бонусными баллами</a:t>
            </a:r>
            <a:r>
              <a:rPr lang="en-US" sz="1200" dirty="0" smtClean="0">
                <a:solidFill>
                  <a:schemeClr val="tx1"/>
                </a:solidFill>
              </a:rPr>
              <a:t>”</a:t>
            </a:r>
            <a:r>
              <a:rPr lang="ru-RU" sz="1200" dirty="0" smtClean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76130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694</Words>
  <Application>Microsoft Office PowerPoint</Application>
  <PresentationFormat>Широкоэкранный</PresentationFormat>
  <Paragraphs>109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Студент</cp:lastModifiedBy>
  <cp:revision>22</cp:revision>
  <dcterms:created xsi:type="dcterms:W3CDTF">2025-09-12T08:00:41Z</dcterms:created>
  <dcterms:modified xsi:type="dcterms:W3CDTF">2025-09-29T10:54:02Z</dcterms:modified>
</cp:coreProperties>
</file>